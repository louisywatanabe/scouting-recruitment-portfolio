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 snapToObjects="1">
      <p:cViewPr varScale="1">
        <p:scale>
          <a:sx n="117" d="100"/>
          <a:sy n="117" d="100"/>
        </p:scale>
        <p:origin x="2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46304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23"/>
                </a:solidFill>
              </a:defRPr>
            </a:pPr>
            <a:r>
              <a:rPr dirty="0"/>
              <a:t>Celtic January 2026 Recruitment</a:t>
            </a:r>
          </a:p>
          <a:p>
            <a:pPr>
              <a:defRPr sz="1800">
                <a:solidFill>
                  <a:srgbClr val="5A5E66"/>
                </a:solidFill>
              </a:defRPr>
            </a:pPr>
            <a:r>
              <a:rPr dirty="0"/>
              <a:t>Value-for-Money Shortlist (Scenario-led, explainable scoring)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3474720" cy="109728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201168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Winter window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063240"/>
            <a:ext cx="201168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Back-three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063240"/>
            <a:ext cx="2011680" cy="3657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Availability-aware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Deck template • 4 Dec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Do not circulate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Scenario 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January 2026 window • Stabilise results and support a likely tactical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182880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Scenario in one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Assumption: recruitment is evaluated against immediate squad needs and winter-window risk.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Drivers: new head coach appointment; possible move to a back three; injuries; AFCON absences.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Outcome: prioritise CB, right-sided RB/RWB, and a forward.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Key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Timeline anchors for planning and availability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31720"/>
            <a:ext cx="4572000" cy="5486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65392" y="2249424"/>
            <a:ext cx="219456" cy="219456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27 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A5E66"/>
                </a:solidFill>
              </a:defRPr>
            </a:pPr>
            <a:r>
              <a:t>Rodgers resigns</a:t>
            </a:r>
            <a:br/>
            <a:r>
              <a:t>Interim period begins</a:t>
            </a:r>
          </a:p>
        </p:txBody>
      </p:sp>
      <p:sp>
        <p:nvSpPr>
          <p:cNvPr id="16" name="Oval 15"/>
          <p:cNvSpPr/>
          <p:nvPr/>
        </p:nvSpPr>
        <p:spPr>
          <a:xfrm>
            <a:off x="7708392" y="2249424"/>
            <a:ext cx="219456" cy="219456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03 Dec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A5E66"/>
                </a:solidFill>
              </a:defRPr>
            </a:pPr>
            <a:r>
              <a:t>Nancy appointed</a:t>
            </a:r>
            <a:br/>
            <a:r>
              <a:t>Permanent head coach</a:t>
            </a:r>
          </a:p>
        </p:txBody>
      </p:sp>
      <p:sp>
        <p:nvSpPr>
          <p:cNvPr id="19" name="Oval 18"/>
          <p:cNvSpPr/>
          <p:nvPr/>
        </p:nvSpPr>
        <p:spPr>
          <a:xfrm>
            <a:off x="8851392" y="2249424"/>
            <a:ext cx="219456" cy="219456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15 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A5E66"/>
                </a:solidFill>
              </a:defRPr>
            </a:pPr>
            <a:r>
              <a:t>AFCON player release</a:t>
            </a:r>
            <a:br/>
            <a:r>
              <a:t>Mandatory from this date</a:t>
            </a:r>
          </a:p>
        </p:txBody>
      </p:sp>
      <p:sp>
        <p:nvSpPr>
          <p:cNvPr id="22" name="Oval 21"/>
          <p:cNvSpPr/>
          <p:nvPr/>
        </p:nvSpPr>
        <p:spPr>
          <a:xfrm>
            <a:off x="9994392" y="2249424"/>
            <a:ext cx="219456" cy="219456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21 Dec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A5E66"/>
                </a:solidFill>
              </a:defRPr>
            </a:pPr>
            <a:r>
              <a:t>AFCON starts</a:t>
            </a:r>
            <a:br/>
            <a:r>
              <a:t>Morocco</a:t>
            </a:r>
          </a:p>
        </p:txBody>
      </p:sp>
      <p:sp>
        <p:nvSpPr>
          <p:cNvPr id="25" name="Oval 24"/>
          <p:cNvSpPr/>
          <p:nvPr/>
        </p:nvSpPr>
        <p:spPr>
          <a:xfrm>
            <a:off x="11137392" y="2249424"/>
            <a:ext cx="219456" cy="219456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1965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18 Jan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A5E66"/>
                </a:solidFill>
              </a:defRPr>
            </a:pPr>
            <a:r>
              <a:t>AFCON ends</a:t>
            </a:r>
            <a:br/>
            <a:r>
              <a:t>Players 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Tactical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If the system shifts towards 3-4-2-1 / 3-4-3, roles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23"/>
                </a:solidFill>
              </a:defRPr>
            </a:pPr>
            <a:r>
              <a:t>Back-three template (illustrative)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600200"/>
            <a:ext cx="521208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38144" y="199887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29148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ST</a:t>
            </a:r>
          </a:p>
        </p:txBody>
      </p:sp>
      <p:sp>
        <p:nvSpPr>
          <p:cNvPr id="10" name="Oval 9"/>
          <p:cNvSpPr/>
          <p:nvPr/>
        </p:nvSpPr>
        <p:spPr>
          <a:xfrm>
            <a:off x="2812694" y="2701137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3510" y="2993745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AM</a:t>
            </a:r>
          </a:p>
        </p:txBody>
      </p:sp>
      <p:sp>
        <p:nvSpPr>
          <p:cNvPr id="12" name="Oval 11"/>
          <p:cNvSpPr/>
          <p:nvPr/>
        </p:nvSpPr>
        <p:spPr>
          <a:xfrm>
            <a:off x="4063593" y="2701137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4409" y="2993745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AM</a:t>
            </a:r>
          </a:p>
        </p:txBody>
      </p:sp>
      <p:sp>
        <p:nvSpPr>
          <p:cNvPr id="14" name="Oval 13"/>
          <p:cNvSpPr/>
          <p:nvPr/>
        </p:nvSpPr>
        <p:spPr>
          <a:xfrm>
            <a:off x="1457553" y="344728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8369" y="37398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LWB</a:t>
            </a:r>
          </a:p>
        </p:txBody>
      </p:sp>
      <p:sp>
        <p:nvSpPr>
          <p:cNvPr id="16" name="Oval 15"/>
          <p:cNvSpPr/>
          <p:nvPr/>
        </p:nvSpPr>
        <p:spPr>
          <a:xfrm>
            <a:off x="2656332" y="344728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7148" y="37398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CM</a:t>
            </a:r>
          </a:p>
        </p:txBody>
      </p:sp>
      <p:sp>
        <p:nvSpPr>
          <p:cNvPr id="18" name="Oval 17"/>
          <p:cNvSpPr/>
          <p:nvPr/>
        </p:nvSpPr>
        <p:spPr>
          <a:xfrm>
            <a:off x="4219956" y="344728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90772" y="37398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CM</a:t>
            </a:r>
          </a:p>
        </p:txBody>
      </p:sp>
      <p:sp>
        <p:nvSpPr>
          <p:cNvPr id="20" name="Oval 19"/>
          <p:cNvSpPr/>
          <p:nvPr/>
        </p:nvSpPr>
        <p:spPr>
          <a:xfrm>
            <a:off x="5418734" y="344728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89550" y="37398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RWB</a:t>
            </a:r>
          </a:p>
        </p:txBody>
      </p:sp>
      <p:sp>
        <p:nvSpPr>
          <p:cNvPr id="22" name="Oval 21"/>
          <p:cNvSpPr/>
          <p:nvPr/>
        </p:nvSpPr>
        <p:spPr>
          <a:xfrm>
            <a:off x="2135124" y="454456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05940" y="48371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LCB</a:t>
            </a:r>
          </a:p>
        </p:txBody>
      </p:sp>
      <p:sp>
        <p:nvSpPr>
          <p:cNvPr id="24" name="Oval 23"/>
          <p:cNvSpPr/>
          <p:nvPr/>
        </p:nvSpPr>
        <p:spPr>
          <a:xfrm>
            <a:off x="3438144" y="454456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48371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CB</a:t>
            </a:r>
          </a:p>
        </p:txBody>
      </p:sp>
      <p:sp>
        <p:nvSpPr>
          <p:cNvPr id="26" name="Oval 25"/>
          <p:cNvSpPr/>
          <p:nvPr/>
        </p:nvSpPr>
        <p:spPr>
          <a:xfrm>
            <a:off x="4741164" y="4544568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1980" y="48371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RCB</a:t>
            </a:r>
          </a:p>
        </p:txBody>
      </p:sp>
      <p:sp>
        <p:nvSpPr>
          <p:cNvPr id="28" name="Oval 27"/>
          <p:cNvSpPr/>
          <p:nvPr/>
        </p:nvSpPr>
        <p:spPr>
          <a:xfrm>
            <a:off x="3438144" y="5422392"/>
            <a:ext cx="256032" cy="256032"/>
          </a:xfrm>
          <a:prstGeom prst="ellipse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57150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E66"/>
                </a:solidFill>
              </a:defRPr>
            </a:pPr>
            <a:r>
              <a:t>GK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09728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0" y="1097280"/>
            <a:ext cx="109728" cy="141732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12801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What this changes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1691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Wing-backs become primary width and chance creation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Wide CBs must defend space and progress the ball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Forward line needs pressing and box presence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2697480"/>
            <a:ext cx="4846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28803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Priority positions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rPr dirty="0"/>
              <a:t>1) Centre-back depth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rPr dirty="0"/>
              <a:t>2) Right-sided RB/RWB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rPr dirty="0"/>
              <a:t>3) Forward depth and goal threat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114800"/>
            <a:ext cx="4846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42976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rPr dirty="0"/>
              <a:t>How this deck uses the scenario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70916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rPr dirty="0"/>
              <a:t>All scoring is role-based.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rPr dirty="0"/>
              <a:t>We compare each player to peers in the same role bucket.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rPr dirty="0"/>
              <a:t>We add an availability and value-for-money lens suitable for January.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Availability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Winter recruitment must account for who is likely to be missing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201168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Injuries (current examples)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Insert your confirmed list here.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Use categories to keep it tidy: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Long-term defensive absences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Recurrent hamstring issues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Availability uncertainty (return dates)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5778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AFCON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Tournament: 21 Dec 2025 to 18 Jan 2026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Mandatory release: 15 Dec 2025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Practical effect: reduced depth during a high-stakes run of fixtures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097280"/>
            <a:ext cx="109728" cy="493776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280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Recruitment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91640"/>
            <a:ext cx="4480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For each target position, we assume: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Availability is a selection constraint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Low-minutes per-90 is discounted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We prioritise players who reduce risk and raise the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What ‘valuable’ means in this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An explainable heuristic designed for a winter-window shortlist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9728" cy="182880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1) Role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High percentile among peers in the same role bucket.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Metrics are standardised within role so comparisons are fair.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18872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188720"/>
            <a:ext cx="109728" cy="182880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2) Value-for-money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8308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Similar performance at lower market value.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We stress ‘efficient output per €’.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188720"/>
            <a:ext cx="3200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188720"/>
            <a:ext cx="109728" cy="182880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3)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8308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We discount per-90 numbers when minutes are low.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This reduces ‘small sample’ bias.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107899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474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One sentence definition (copy-ready)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10332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 valuable player is one who performs strongly relative to peers in the same role, offers good market value for that output, and has sufficient minutes to trust the signal in a winter-window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Data and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Be explicit so the shortlist stays credible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210312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Dataset (Task_Data.csv)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Season-level stats aggregated per 90.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Includes market value in euros.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Scope: multiple leagues and positions.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Note: missing values are expected by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55778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Core constraints (edit to match your notebook)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Minimum minutes threshold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Age band preference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Value ceiling (budget)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4) Position buckets: CB, RB/RWB, forward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1097280"/>
            <a:ext cx="109728" cy="493776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280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Quality checks before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91640"/>
            <a:ext cx="4480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Standardise against a stable reference group per role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Flip metric direction where lower is better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Treat missing values consistently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4) Reduce the influence of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Role buckets and metric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Comparisons are made within a role, not across the whole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201168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Buckets (example)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CB bucket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RWB/RB bucket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Forward bucket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Optional: split CB into RCB and LCB if data allows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Metrics per bucket (example format)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Aim for 6 to 10 metrics per role.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Mix of defending, progression, and ball security for defenders.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Mix of chance creation and box threat for wide roles.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Mix of finishing and pressing proxies for forwards.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325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23"/>
                </a:solidFill>
              </a:defRPr>
            </a:pPr>
            <a:r>
              <a:t>Position to role mapping (fill 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828800"/>
            <a:ext cx="4572000" cy="438912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19019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1E23"/>
                </a:solidFill>
              </a:defRPr>
            </a:pPr>
            <a:r>
              <a:t>Raw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019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1E23"/>
                </a:solidFill>
              </a:defRPr>
            </a:pPr>
            <a:r>
              <a:t>Role bucket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331720"/>
            <a:ext cx="4572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24048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5E66"/>
                </a:solidFill>
              </a:defRPr>
            </a:pPr>
            <a:r>
              <a:t>CB / LCB / RCB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4048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5E66"/>
                </a:solidFill>
              </a:defRPr>
            </a:pPr>
            <a:r>
              <a:t>CB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834640"/>
            <a:ext cx="4572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90779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5E66"/>
                </a:solidFill>
              </a:defRPr>
            </a:pPr>
            <a:r>
              <a:t>RB / RWB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0779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5E66"/>
                </a:solidFill>
              </a:defRPr>
            </a:pPr>
            <a:r>
              <a:t>Right WB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337560"/>
            <a:ext cx="45720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4107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5E66"/>
                </a:solidFill>
              </a:defRPr>
            </a:pPr>
            <a:r>
              <a:t>LW / RW / ST / CF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4107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5E66"/>
                </a:solidFill>
              </a:defRPr>
            </a:pPr>
            <a:r>
              <a:t>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Scoring pipeline (explainable)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Keep each step simple, auditable, and role-specific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645920" cy="73152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202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920240"/>
            <a:ext cx="1645920" cy="73152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80" y="208483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Standardise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1645920" cy="73152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Score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1645920" cy="73152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08483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Adjust reliability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1645920" cy="73152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208483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Add cost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9202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5520" y="1920240"/>
            <a:ext cx="1645920" cy="73152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2084832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1E23"/>
                </a:solidFill>
              </a:defRPr>
            </a:pPr>
            <a:r>
              <a:t>Shortlist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1097280"/>
            <a:ext cx="10789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1097280"/>
            <a:ext cx="109728" cy="73152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12801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Key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1691640"/>
            <a:ext cx="103327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Standardise within role using a stable peer group, then visualise the shortlist. Do not standardise after heavy filtering, or scores will look unrealistically high.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42900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3611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Performance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Combine role metrics into a single score.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Use percentiles or z-scores.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Document metric direction and weighting.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42900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611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VFM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02336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VFM = performance minus cost, plus reliability.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Add an optional priority boost for target roles.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Keep coefficients transparent.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Selection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Transparency: show how the final four emerge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949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493776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Funnel chart (fill with counts)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937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All players: N = ____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After minutes filter: N = ____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After role bucket filter: N = ____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After value cap: N = ____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After top-N per role: N = ____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Final four: N =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Why recruiters like this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It proves the shortlist is not arbitrary.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It shows constraints clearly.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It reduces ‘cherry-picking’ concerns.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6616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3749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Visual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6052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Option A: tapered funnel blocks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Option B: waterfall counts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Option C: Sankey from position to final four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Results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Show value-for-money visually before diving into player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7040880" cy="493776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23"/>
                </a:solidFill>
              </a:defRPr>
            </a:pPr>
            <a:r>
              <a:t>Performance score (x) vs Market value (y) • Highlight final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806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E66"/>
                </a:solidFill>
              </a:defRPr>
            </a:pPr>
            <a:r>
              <a:t>Higher performance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365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E66"/>
                </a:solidFill>
              </a:defRPr>
            </a:pPr>
            <a:r>
              <a:t>Higher value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0972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1097280"/>
            <a:ext cx="109728" cy="219456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280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916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Best zone: high performance and lower market value.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Final four should sit in or near this zone.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Use role filters to avoid cross-role distortion.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566160"/>
            <a:ext cx="3566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What you annotate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16052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Label the final four.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Add median lines.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Optionally, show a ‘budget ceiling’ line.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Keep the same scaling across roles.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Player page template (repeat x4)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Make comparisons easy: same layout for every player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7490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201168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Player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32918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Name / ID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Age, league, club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Minutes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Market value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Role bucket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97280"/>
            <a:ext cx="6858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280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Role fit (2 lines)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6400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One sentence on tactical fit.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One sentence on squad need and availability benefit.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7040880" cy="274320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23"/>
                </a:solidFill>
              </a:defRPr>
            </a:pPr>
            <a:r>
              <a:t>Driver metrics • Percentile vs role peers (top 6 to 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3375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3337560"/>
            <a:ext cx="109728" cy="274320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3520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Risk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931920"/>
            <a:ext cx="3108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Minutes reliability: High / Medium / Low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League jump: Low / Medium / High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Injury proxy: if available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Data missingness: note key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Risks, limitations, next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What to verify before recommending a signing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577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493776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Limitations of this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51206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League strength is not fully controlled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Per-90 can inflate low-minute players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No direct tactical video labels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4) Limited injury and contract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97280"/>
            <a:ext cx="49377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280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Fast validation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9164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Watch 2 to 3 matches per player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Check injury history and availability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Confirm role fit with heatmaps or event data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4) Check contract length and wages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794760"/>
            <a:ext cx="49377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39776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Robustness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38912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1) Re-rank with alternative metric weights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2) Try percentile scoring vs z-score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3) Sensitivity to minutes threshold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4) Remove outliers and re-run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Confidential • For recruitment exercise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1E23"/>
                </a:solidFill>
              </a:defRPr>
            </a:pPr>
            <a:r>
              <a:t>Sources used for the scenario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E66"/>
                </a:solidFill>
              </a:defRPr>
            </a:pPr>
            <a:r>
              <a:t>Keep recruitment context grounded in publicly available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89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9728" cy="4937760"/>
          </a:xfrm>
          <a:prstGeom prst="rect">
            <a:avLst/>
          </a:prstGeom>
          <a:solidFill>
            <a:srgbClr val="00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23"/>
                </a:solidFill>
              </a:defRPr>
            </a:pPr>
            <a:r>
              <a:t>Suggested citations to include in your report or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103327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Celtic FC: Club statement on managerial change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Reuters: Appointment announcement and timing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Sky Sports: Confirmation and context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FIFA: AFCON 2025 dates and mandatory release period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The Scotsman: Injury timeline reporting (example)</a:t>
            </a:r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5A5E66"/>
                </a:solidFill>
              </a:defRPr>
            </a:pPr>
            <a:r>
              <a:t>Add any club medical updates or press conferences you relied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E66"/>
                </a:solidFill>
              </a:defRPr>
            </a:pPr>
            <a:r>
              <a:t>Template deck • Replace placeholders with your final shortlist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1378</Words>
  <Application>Microsoft Macintosh PowerPoint</Application>
  <PresentationFormat>Widescreen</PresentationFormat>
  <Paragraphs>224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侑弥 渡邊</cp:lastModifiedBy>
  <cp:revision>2</cp:revision>
  <dcterms:created xsi:type="dcterms:W3CDTF">2013-01-27T09:14:16Z</dcterms:created>
  <dcterms:modified xsi:type="dcterms:W3CDTF">2025-12-08T11:40:14Z</dcterms:modified>
  <cp:category/>
</cp:coreProperties>
</file>